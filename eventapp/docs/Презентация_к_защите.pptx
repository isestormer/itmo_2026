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4045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ventapp/pptx_assets/bg_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D9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НАЦИОНАЛЬНЫЙ ИССЛЕДОВАТЕЛЬСКИЙ УНИВЕРСИТЕТ ИТМО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 авторизованного обучения информационным технологиям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286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B23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ДИПЛОМНЫЙ ПРОЕКТ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743200"/>
            <a:ext cx="9875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Разработка веб-приложения для создания мероприятий и управления регистрацией участников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892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Автор: </a:t>
            </a:r>
            <a:r>
              <a:rPr lang="ru-RU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Кербель</a:t>
            </a:r>
            <a:r>
              <a:rPr lang="ru-RU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Даниил Андреевич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</a:t>
            </a:r>
            <a:r>
              <a:rPr lang="en-US" sz="1400" b="1" dirty="0">
                <a:solidFill>
                  <a:srgbClr val="D9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124/17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303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Руководитель: </a:t>
            </a:r>
            <a:r>
              <a:rPr lang="ru-RU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Кузьмин Константин Михайлович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8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Санкт-Петербург,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Проблематика и актуальность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4B2472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645920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Организация мероприятий вручную (таблицы, мессенджеры, почта) приводит к ошибкам учёта и потерянным заявкам участников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B23F92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880360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 в реальном времени контролировать количество свободных мест и не допустить переполнение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4B2472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4114800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участников нет единой точки: </a:t>
            </a:r>
            <a:r>
              <a:rPr lang="ru-RU" sz="150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находить</a:t>
            </a:r>
            <a:r>
              <a:rPr lang="en-US" sz="150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мероприятие, </a:t>
            </a:r>
            <a:r>
              <a:rPr lang="ru-RU" sz="150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регистрироваться</a:t>
            </a:r>
            <a:r>
              <a:rPr lang="en-US" sz="150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ru-RU" sz="150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платить за</a:t>
            </a:r>
            <a:r>
              <a:rPr lang="en-US" sz="150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участие приходится через разные каналы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503920" y="1463040"/>
            <a:ext cx="2926080" cy="2926080"/>
          </a:xfrm>
          <a:prstGeom prst="ellipse">
            <a:avLst/>
          </a:prstGeom>
          <a:solidFill>
            <a:srgbClr val="4B2472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509760" y="2743200"/>
            <a:ext cx="2103120" cy="2103120"/>
          </a:xfrm>
          <a:prstGeom prst="ellipse">
            <a:avLst/>
          </a:prstGeom>
          <a:solidFill>
            <a:srgbClr val="B23F92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366760" y="4480560"/>
            <a:ext cx="32004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595360" y="461772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4B2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
</a:t>
            </a:r>
            <a:r>
              <a:rPr lang="en-US" sz="11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Автоматизация процесса регистрации и оплаты сокращает трудозатраты организатора и снижает риск ошибок ручного учёта.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ИТМО  ·  ЦАО ИТ  ·  Python-разработчик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698480" y="6510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из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Цель и задачи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2D1444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50876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D9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работы: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веб-приложения для создания мероприятий и управления регистрацией участников.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384048" cy="384048"/>
          </a:xfrm>
          <a:prstGeom prst="ellipse">
            <a:avLst/>
          </a:prstGeom>
          <a:solidFill>
            <a:srgbClr val="4B2472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2743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2688336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Исследовать предметную область, формализовать её (диаграмма прецедентов)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2743200"/>
            <a:ext cx="384048" cy="384048"/>
          </a:xfrm>
          <a:prstGeom prst="ellipse">
            <a:avLst/>
          </a:prstGeom>
          <a:solidFill>
            <a:srgbClr val="4B2472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263640" y="2743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30568" y="2688336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Сформулировать функциональные требования, построить концептуальную модель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13632"/>
            <a:ext cx="384048" cy="384048"/>
          </a:xfrm>
          <a:prstGeom prst="ellipse">
            <a:avLst/>
          </a:prstGeom>
          <a:solidFill>
            <a:srgbClr val="4B2472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48640" y="3913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3858768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Выбрать средства реализации (язык, фреймворк, СУБД)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3913632"/>
            <a:ext cx="384048" cy="384048"/>
          </a:xfrm>
          <a:prstGeom prst="ellipse">
            <a:avLst/>
          </a:prstGeom>
          <a:solidFill>
            <a:srgbClr val="4B2472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263640" y="3913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30568" y="3858768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и создать базу данных (ER-диаграмма)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084064"/>
            <a:ext cx="384048" cy="384048"/>
          </a:xfrm>
          <a:prstGeom prst="ellipse">
            <a:avLst/>
          </a:prstGeom>
          <a:solidFill>
            <a:srgbClr val="4B2472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48640" y="5084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" y="50292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клиентскую часть (веб-приложение)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5084064"/>
            <a:ext cx="384048" cy="384048"/>
          </a:xfrm>
          <a:prstGeom prst="ellipse">
            <a:avLst/>
          </a:prstGeom>
          <a:solidFill>
            <a:srgbClr val="4B2472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263640" y="5084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30568" y="50292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Протестировать разработанное приложение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ИТМО  ·  ЦАО ИТ  ·  Python-разработчик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0698480" y="6510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из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Функциональные требования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49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943100"/>
            <a:ext cx="365760" cy="365760"/>
          </a:xfrm>
          <a:prstGeom prst="ellipse">
            <a:avLst/>
          </a:prstGeom>
          <a:solidFill>
            <a:srgbClr val="B23F92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9431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00200"/>
            <a:ext cx="4389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и вход с разделением ролей «организатор» / «участник»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64808" y="1943100"/>
            <a:ext cx="365760" cy="365760"/>
          </a:xfrm>
          <a:prstGeom prst="ellipse">
            <a:avLst/>
          </a:prstGeom>
          <a:solidFill>
            <a:srgbClr val="4B2472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64808" y="19431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1600200"/>
            <a:ext cx="4389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Создание, редактирование, публикация и отмена мероприятий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852928"/>
            <a:ext cx="5349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3195828"/>
            <a:ext cx="365760" cy="365760"/>
          </a:xfrm>
          <a:prstGeom prst="ellipse">
            <a:avLst/>
          </a:prstGeom>
          <a:solidFill>
            <a:srgbClr val="4B2472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49808" y="31958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852928"/>
            <a:ext cx="4389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мероприятий: текстовый поиск и фильтр по категории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2852928"/>
            <a:ext cx="5349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64808" y="3195828"/>
            <a:ext cx="365760" cy="365760"/>
          </a:xfrm>
          <a:prstGeom prst="ellipse">
            <a:avLst/>
          </a:prstGeom>
          <a:solidFill>
            <a:srgbClr val="B23F92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64808" y="31958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2852928"/>
            <a:ext cx="4389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участника с контролем свободных мест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105656"/>
            <a:ext cx="5349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4448556"/>
            <a:ext cx="365760" cy="365760"/>
          </a:xfrm>
          <a:prstGeom prst="ellipse">
            <a:avLst/>
          </a:prstGeom>
          <a:solidFill>
            <a:srgbClr val="4B2472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49808" y="44485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105656"/>
            <a:ext cx="4389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оплаты за участие в платных мероприятиях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63640" y="4105656"/>
            <a:ext cx="5349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64808" y="4448556"/>
            <a:ext cx="365760" cy="365760"/>
          </a:xfrm>
          <a:prstGeom prst="ellipse">
            <a:avLst/>
          </a:prstGeom>
          <a:solidFill>
            <a:srgbClr val="4B2472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464808" y="44485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4105656"/>
            <a:ext cx="4389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Email-уведомления: регистрация, оплата, отмена мероприятия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5358384"/>
            <a:ext cx="5349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49808" y="5701284"/>
            <a:ext cx="365760" cy="365760"/>
          </a:xfrm>
          <a:prstGeom prst="ellipse">
            <a:avLst/>
          </a:prstGeom>
          <a:solidFill>
            <a:srgbClr val="B23F92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49808" y="57012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325880" y="5358384"/>
            <a:ext cx="4389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Отчёты организатора: заполняемость и выручка по мероприятиям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263640" y="5358384"/>
            <a:ext cx="5349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64808" y="5701284"/>
            <a:ext cx="365760" cy="365760"/>
          </a:xfrm>
          <a:prstGeom prst="ellipse">
            <a:avLst/>
          </a:prstGeom>
          <a:solidFill>
            <a:srgbClr val="4B2472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6464808" y="57012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040880" y="5358384"/>
            <a:ext cx="4389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Разграничение доступа к функциям по ролям пользователей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ИТМО  ·  ЦАО ИТ  ·  Python-разработчик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0698480" y="6510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из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Роли пользователей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600200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4B247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48840"/>
            <a:ext cx="5394960" cy="274320"/>
          </a:xfrm>
          <a:prstGeom prst="rect">
            <a:avLst/>
          </a:prstGeom>
          <a:solidFill>
            <a:srgbClr val="4B247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Организатор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770632"/>
            <a:ext cx="109728" cy="109728"/>
          </a:xfrm>
          <a:prstGeom prst="ellipse">
            <a:avLst/>
          </a:prstGeom>
          <a:solidFill>
            <a:srgbClr val="4B247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88720" y="2624328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Создаёт, редактирует и публикует мероприятия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14400" y="3639312"/>
            <a:ext cx="109728" cy="109728"/>
          </a:xfrm>
          <a:prstGeom prst="ellipse">
            <a:avLst/>
          </a:prstGeom>
          <a:solidFill>
            <a:srgbClr val="4B247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88720" y="3493008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Отменяет мероприятия (участники уведомляются)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14400" y="4507992"/>
            <a:ext cx="109728" cy="109728"/>
          </a:xfrm>
          <a:prstGeom prst="ellipse">
            <a:avLst/>
          </a:prstGeom>
          <a:solidFill>
            <a:srgbClr val="4B247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88720" y="4361688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Просматривает список участников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14400" y="5376672"/>
            <a:ext cx="109728" cy="109728"/>
          </a:xfrm>
          <a:prstGeom prst="ellipse">
            <a:avLst/>
          </a:prstGeom>
          <a:solidFill>
            <a:srgbClr val="4B247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88720" y="5230368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Смотрит отчёты и статистику по своим мероприятиям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63640" y="160020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600200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B23F92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3640" y="2148840"/>
            <a:ext cx="5394960" cy="274320"/>
          </a:xfrm>
          <a:prstGeom prst="rect">
            <a:avLst/>
          </a:prstGeom>
          <a:solidFill>
            <a:srgbClr val="B23F9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63640" y="16002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Участник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629400" y="2770632"/>
            <a:ext cx="109728" cy="109728"/>
          </a:xfrm>
          <a:prstGeom prst="ellipse">
            <a:avLst/>
          </a:prstGeom>
          <a:solidFill>
            <a:srgbClr val="B23F9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03720" y="2624328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Просматривает каталог, ищет и фильтрует мероприятия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629400" y="3639312"/>
            <a:ext cx="109728" cy="109728"/>
          </a:xfrm>
          <a:prstGeom prst="ellipse">
            <a:avLst/>
          </a:prstGeom>
          <a:solidFill>
            <a:srgbClr val="B23F9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03720" y="3493008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Регистрируется на мероприятия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629400" y="4507992"/>
            <a:ext cx="109728" cy="109728"/>
          </a:xfrm>
          <a:prstGeom prst="ellipse">
            <a:avLst/>
          </a:prstGeom>
          <a:solidFill>
            <a:srgbClr val="B23F9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903720" y="4361688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Оплачивает участие в платных мероприятиях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629400" y="5376672"/>
            <a:ext cx="109728" cy="109728"/>
          </a:xfrm>
          <a:prstGeom prst="ellipse">
            <a:avLst/>
          </a:prstGeom>
          <a:solidFill>
            <a:srgbClr val="B23F9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903720" y="5230368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Просматривает и отменяет свои регистрации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ИТМО  ·  ЦАО ИТ  ·  Python-разработчик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698480" y="6510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из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Архитектура приложения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1920240" cy="2743200"/>
          </a:xfrm>
          <a:prstGeom prst="roundRect">
            <a:avLst>
              <a:gd name="adj" fmla="val 4762"/>
            </a:avLst>
          </a:prstGeom>
          <a:solidFill>
            <a:srgbClr val="9C87BE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2011680"/>
            <a:ext cx="1920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(клиент)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926080" y="1691640"/>
            <a:ext cx="3291840" cy="3383280"/>
          </a:xfrm>
          <a:prstGeom prst="roundRect">
            <a:avLst>
              <a:gd name="adj" fmla="val 2778"/>
            </a:avLst>
          </a:prstGeom>
          <a:solidFill>
            <a:srgbClr val="4B2472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926080" y="1691640"/>
            <a:ext cx="32918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Flask-приложение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events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registrations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· reports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0" y="1691640"/>
            <a:ext cx="2331720" cy="1554480"/>
          </a:xfrm>
          <a:prstGeom prst="roundRect">
            <a:avLst>
              <a:gd name="adj" fmla="val 5882"/>
            </a:avLst>
          </a:prstGeom>
          <a:solidFill>
            <a:srgbClr val="B23F92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75120" y="169164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Сервисы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payment_service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email_service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675120" y="3520440"/>
            <a:ext cx="2331720" cy="1554480"/>
          </a:xfrm>
          <a:prstGeom prst="roundRect">
            <a:avLst>
              <a:gd name="adj" fmla="val 5882"/>
            </a:avLst>
          </a:prstGeom>
          <a:solidFill>
            <a:srgbClr val="2D1444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675120" y="352044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(локальная БД)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509760" y="1691640"/>
            <a:ext cx="2148840" cy="1554480"/>
          </a:xfrm>
          <a:prstGeom prst="roundRect">
            <a:avLst>
              <a:gd name="adj" fmla="val 5882"/>
            </a:avLst>
          </a:prstGeom>
          <a:solidFill>
            <a:srgbClr val="8A7AA8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509760" y="169164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(лог / SMTP)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468880" y="3383280"/>
            <a:ext cx="457200" cy="0"/>
          </a:xfrm>
          <a:prstGeom prst="line">
            <a:avLst/>
          </a:prstGeom>
          <a:noFill/>
          <a:ln w="25400">
            <a:solidFill>
              <a:srgbClr val="6B62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17920" y="2468880"/>
            <a:ext cx="457200" cy="0"/>
          </a:xfrm>
          <a:prstGeom prst="line">
            <a:avLst/>
          </a:prstGeom>
          <a:noFill/>
          <a:ln w="25400">
            <a:solidFill>
              <a:srgbClr val="6B6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17920" y="4297680"/>
            <a:ext cx="457200" cy="0"/>
          </a:xfrm>
          <a:prstGeom prst="line">
            <a:avLst/>
          </a:prstGeom>
          <a:noFill/>
          <a:ln w="25400">
            <a:solidFill>
              <a:srgbClr val="6B62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006840" y="2468880"/>
            <a:ext cx="502920" cy="0"/>
          </a:xfrm>
          <a:prstGeom prst="line">
            <a:avLst/>
          </a:prstGeom>
          <a:noFill/>
          <a:ln w="25400">
            <a:solidFill>
              <a:srgbClr val="6B6280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548640" y="5532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HTTP-запросы обрабатываются модулями-блюпринтами Flask; доступ к БД </a:t>
            </a:r>
            <a:r>
              <a:rPr lang="ru-RU" sz="1250" i="1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50" i="1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напрямую через sqlite3, без ORM. Оплата и почта вынесены в отдельные сервисы, что позволяет заменить их на реальные интеграции без изменения остального кода.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ИТМО  ·  ЦАО ИТ  ·  Python-разработчик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698480" y="6510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из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23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ПРЕДМЕТНОЙ ОБЛАСТИ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Диаграмма прецедентов (use case)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67913" y="1325880"/>
            <a:ext cx="5255870" cy="5303520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pic>
        <p:nvPicPr>
          <p:cNvPr id="5" name="Image 0" descr="/home/claude/eventapp/pptx_assets/use_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6513" y="1554480"/>
            <a:ext cx="4798670" cy="4846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ИТМО  ·  ЦАО ИТ  ·  Python-разработчик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698480" y="6510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из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23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КОНЦЕПТУАЛЬНАЯ МОДЕЛЬ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Диаграмма классов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338202" cy="5166360"/>
          </a:xfrm>
          <a:prstGeom prst="roundRect">
            <a:avLst>
              <a:gd name="adj" fmla="val 4693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pic>
        <p:nvPicPr>
          <p:cNvPr id="5" name="Image 0" descr="/home/claude/eventapp/pptx_assets/class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55064"/>
            <a:ext cx="1950398" cy="4882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303520" y="1737360"/>
            <a:ext cx="6309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</a:t>
            </a:r>
            <a:r>
              <a:rPr lang="ru-RU" sz="13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базовый класс пользователя (email, пароль, роль)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 / Participant </a:t>
            </a:r>
            <a:r>
              <a:rPr lang="ru-RU" sz="13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специализации по роли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</a:t>
            </a:r>
            <a:r>
              <a:rPr lang="ru-RU" sz="13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мероприятие, создаётся организатором (1..*)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</a:t>
            </a:r>
            <a:r>
              <a:rPr lang="ru-RU" sz="13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связывает участника и мероприятие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</a:t>
            </a:r>
            <a:r>
              <a:rPr lang="ru-RU" sz="13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0..1 оплата на регистрацию, использует мок платёжного шлюза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</a:t>
            </a:r>
            <a:r>
              <a:rPr lang="ru-RU" sz="13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уведомления, отправляемые через email-сервис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ИТМО  ·  ЦАО ИТ  ·  Python-разработчик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698480" y="6510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из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23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 БД (SQLITE)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ER-диаграмма базы данных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195513" y="1325880"/>
            <a:ext cx="7800669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pic>
        <p:nvPicPr>
          <p:cNvPr id="5" name="Image 0" descr="/home/claude/eventapp/pptx_assets/er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113" y="1554480"/>
            <a:ext cx="7343469" cy="42976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таблиц: users, events, registrations, payments, notifications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ИТМО  ·  ЦАО ИТ  ·  Python-разработчик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698480" y="6510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из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23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ЖИЗНЕННЫЕ ЦИКЛЫ СУЩНОСТЕЙ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Диаграммы состояний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33752" y="1325880"/>
            <a:ext cx="7524192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pic>
        <p:nvPicPr>
          <p:cNvPr id="5" name="Image 0" descr="/home/claude/eventapp/pptx_assets/state_diagra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2352" y="1554480"/>
            <a:ext cx="7066992" cy="42976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Мероприятие · Регистрация · Оплата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ИТМО  ·  ЦАО ИТ  ·  Python-разработчик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698480" y="6510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из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Средства реализации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965960" cy="22860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pic>
        <p:nvPicPr>
          <p:cNvPr id="4" name="Image 0" descr="/home/claude/eventapp/pptx_assets/icons/pyth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" y="196596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7889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1546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 программирования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770632" y="1737360"/>
            <a:ext cx="1965960" cy="22860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pic>
        <p:nvPicPr>
          <p:cNvPr id="8" name="Image 1" descr="/home/claude/eventapp/pptx_assets/icons/flas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7852" y="1965960"/>
            <a:ext cx="731520" cy="7315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862072" y="27889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2862072" y="31546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веб-фреймворк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992624" y="1737360"/>
            <a:ext cx="1965960" cy="22860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pic>
        <p:nvPicPr>
          <p:cNvPr id="12" name="Image 2" descr="/home/claude/eventapp/pptx_assets/icons/jinj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9844" y="1965960"/>
            <a:ext cx="731520" cy="7315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84064" y="27889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5084064" y="31546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шаблонизатор HTML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7214616" y="1737360"/>
            <a:ext cx="1965960" cy="22860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pic>
        <p:nvPicPr>
          <p:cNvPr id="16" name="Image 3" descr="/home/claude/eventapp/pptx_assets/icons/sql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1836" y="1965960"/>
            <a:ext cx="731520" cy="7315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306056" y="27889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7306056" y="31546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локальная СУБД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9436608" y="1737360"/>
            <a:ext cx="1965960" cy="22860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pic>
        <p:nvPicPr>
          <p:cNvPr id="20" name="Image 4" descr="/home/claude/eventapp/pptx_assets/icons/bootstr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3828" y="1965960"/>
            <a:ext cx="731520" cy="7315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528048" y="27889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9528048" y="31546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CSS-фреймворк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548640" y="4434840"/>
            <a:ext cx="11064240" cy="1600200"/>
          </a:xfrm>
          <a:prstGeom prst="roundRect">
            <a:avLst>
              <a:gd name="adj" fmla="val 6857"/>
            </a:avLst>
          </a:prstGeom>
          <a:solidFill>
            <a:srgbClr val="2D1444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sp>
        <p:nvSpPr>
          <p:cNvPr id="24" name="Text 17"/>
          <p:cNvSpPr txBox="1"/>
          <p:nvPr/>
        </p:nvSpPr>
        <p:spPr>
          <a:xfrm>
            <a:off x="822960" y="4553712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ORM.  </a:t>
            </a:r>
            <a:r>
              <a:rPr lang="en-US" sz="1300" dirty="0">
                <a:solidFill>
                  <a:srgbClr val="D9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БД </a:t>
            </a:r>
            <a:r>
              <a:rPr lang="ru-RU" sz="1300" dirty="0">
                <a:solidFill>
                  <a:srgbClr val="D9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00" dirty="0">
                <a:solidFill>
                  <a:srgbClr val="D9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напрямую через модуль sqlite3.
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Мок-сервисы.  </a:t>
            </a:r>
            <a:r>
              <a:rPr lang="en-US" sz="1300" dirty="0">
                <a:solidFill>
                  <a:srgbClr val="D9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Платёжный шлюз и отправка email реализованы как заглушки с интерфейсом </a:t>
            </a:r>
            <a:r>
              <a:rPr lang="en-US" sz="1300" dirty="0" err="1">
                <a:solidFill>
                  <a:srgbClr val="D9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реального</a:t>
            </a:r>
            <a:r>
              <a:rPr lang="en-US" sz="1300" dirty="0">
                <a:solidFill>
                  <a:srgbClr val="D9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D9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сервиса</a:t>
            </a:r>
            <a:r>
              <a:rPr lang="ru-RU" sz="1300" dirty="0">
                <a:solidFill>
                  <a:srgbClr val="D9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300" dirty="0">
                <a:solidFill>
                  <a:srgbClr val="D9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ИТМО  ·  ЦАО ИТ  ·  Python-разработчик</a:t>
            </a:r>
            <a:endParaRPr lang="en-US" sz="900" dirty="0"/>
          </a:p>
        </p:txBody>
      </p:sp>
      <p:sp>
        <p:nvSpPr>
          <p:cNvPr id="26" name="Text 19"/>
          <p:cNvSpPr txBox="1"/>
          <p:nvPr/>
        </p:nvSpPr>
        <p:spPr>
          <a:xfrm>
            <a:off x="10698480" y="6510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из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23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ДЕМОНСТРАЦИЯ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Интерфейс: каталог мероприятий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15414" y="1691640"/>
            <a:ext cx="7760867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pic>
        <p:nvPicPr>
          <p:cNvPr id="5" name="Image 0" descr="/home/claude/eventapp/pptx_assets/cata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2574" y="1828800"/>
            <a:ext cx="7486547" cy="32461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5440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по названию/описанию и фильтр по категории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показывает вместимость, цену и число занятых мест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ИТМО  ·  ЦАО ИТ  ·  Python-разработчик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698480" y="6510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из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23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ДЕМОНСТРАЦИЯ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Интерфейс: оплата участия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908002" y="1691640"/>
            <a:ext cx="6375691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pic>
        <p:nvPicPr>
          <p:cNvPr id="5" name="Image 0" descr="/home/claude/eventapp/pptx_assets/p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5162" y="1828800"/>
            <a:ext cx="6101371" cy="32461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5440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Демонстрационная (мок) форма </a:t>
            </a:r>
            <a:r>
              <a:rPr lang="en-US" sz="1200" dirty="0" err="1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оплаты</a:t>
            </a:r>
            <a:r>
              <a:rPr lang="en-US" sz="120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20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реальные платёжные данные не запрашиваются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успешной оплаты статус регистрации меняется на «подтверждена»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ИТМО  ·  ЦАО ИТ  ·  Python-разработчик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698480" y="6510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из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23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ДЕМОНСТРАЦИЯ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Интерфейс: отчёты и статистика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973750" y="1691640"/>
            <a:ext cx="6244196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pic>
        <p:nvPicPr>
          <p:cNvPr id="5" name="Image 0" descr="/home/claude/eventapp/pptx_assets/repo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0910" y="1828800"/>
            <a:ext cx="5969876" cy="32461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5440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Организатор видит число мероприятий, регистраций и суммарную выручку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каждому </a:t>
            </a:r>
            <a:r>
              <a:rPr lang="en-US" sz="1200" dirty="0" err="1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мероприятию</a:t>
            </a:r>
            <a:r>
              <a:rPr lang="en-US" sz="120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20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заполняемость и выручка отдельно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ИТМО  ·  ЦАО ИТ  ·  Python-разработчик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698480" y="6510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из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Выводы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0642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задачи, поставленные </a:t>
            </a:r>
            <a:r>
              <a:rPr lang="en-US" sz="1400" b="1" dirty="0" err="1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</a:t>
            </a:r>
            <a:r>
              <a:rPr lang="en-US" sz="1400" b="1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400" b="1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r>
              <a:rPr lang="en-US" sz="1400" b="1" dirty="0" err="1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ведении</a:t>
            </a:r>
            <a:r>
              <a:rPr lang="en-US" sz="1400" b="1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выполнены: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94560"/>
            <a:ext cx="10424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✓"/>
            </a:pPr>
            <a:r>
              <a:rPr lang="en-US" sz="130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исследована и формализована предметная область;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✓"/>
            </a:pPr>
            <a:r>
              <a:rPr lang="en-US" sz="130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сформулированы функциональные требования, построена концептуальная модель;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✓"/>
            </a:pPr>
            <a:r>
              <a:rPr lang="en-US" sz="130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спроектирована и реализована база данных;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✓"/>
            </a:pPr>
            <a:r>
              <a:rPr lang="en-US" sz="130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разработана и протестирована клиентская часть приложения.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B2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Перспективы развития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4434840"/>
            <a:ext cx="329184" cy="329184"/>
          </a:xfrm>
          <a:prstGeom prst="ellipse">
            <a:avLst/>
          </a:prstGeom>
          <a:solidFill>
            <a:srgbClr val="B23F92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48640" y="44348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436168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реальным платёжным провайдером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4434840"/>
            <a:ext cx="329184" cy="329184"/>
          </a:xfrm>
          <a:prstGeom prst="ellipse">
            <a:avLst/>
          </a:prstGeom>
          <a:solidFill>
            <a:srgbClr val="B23F92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126480" y="44348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436168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 err="1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Подключение</a:t>
            </a:r>
            <a:r>
              <a:rPr lang="en-US" sz="12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SMTP-</a:t>
            </a:r>
            <a:r>
              <a:rPr lang="en-US" sz="1250" dirty="0" err="1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сервера</a:t>
            </a:r>
            <a:r>
              <a:rPr lang="en-US" sz="12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для рассылок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212080"/>
            <a:ext cx="329184" cy="329184"/>
          </a:xfrm>
          <a:prstGeom prst="ellipse">
            <a:avLst/>
          </a:prstGeom>
          <a:solidFill>
            <a:srgbClr val="B23F92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48640" y="52120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513892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Отложенные напоминания о мероприятии по расписанию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0" y="5212080"/>
            <a:ext cx="329184" cy="329184"/>
          </a:xfrm>
          <a:prstGeom prst="ellipse">
            <a:avLst/>
          </a:prstGeom>
          <a:solidFill>
            <a:srgbClr val="B23F92"/>
          </a:solidFill>
          <a:ln/>
          <a:effectLst>
            <a:outerShdw blurRad="76200" dist="38100" dir="5400000" algn="bl" rotWithShape="0">
              <a:srgbClr val="2D1444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126480" y="52120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513892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Экспорт списка участников и билетов в PDF / ICS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ИТМО  ·  ЦАО ИТ  ·  Python-разработчик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698480" y="6510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из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ventapp/pptx_assets/bg_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788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ВНИМАНИЕ!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36118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веб-приложения для создания мероприятий и управления регистрацией участников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8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 ответить на вопросы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805</Words>
  <Application>Microsoft Office PowerPoint</Application>
  <PresentationFormat>Широкоэкранный</PresentationFormat>
  <Paragraphs>176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Daniil Kerbel</cp:lastModifiedBy>
  <cp:revision>3</cp:revision>
  <dcterms:created xsi:type="dcterms:W3CDTF">2026-09-27T20:28:09Z</dcterms:created>
  <dcterms:modified xsi:type="dcterms:W3CDTF">2026-09-28T12:35:02Z</dcterms:modified>
</cp:coreProperties>
</file>